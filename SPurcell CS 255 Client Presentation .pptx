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66" d="100"/>
          <a:sy n="66" d="100"/>
        </p:scale>
        <p:origin x="151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thank you for taking the time to meet today. I am excited to guide you through the system architecture for </a:t>
            </a:r>
            <a:r>
              <a:rPr lang="en-US" sz="1200" b="1" u="none" strike="noStrike" kern="1200" dirty="0" err="1">
                <a:solidFill>
                  <a:schemeClr val="tx1"/>
                </a:solidFill>
                <a:effectLst/>
                <a:latin typeface="+mn-lt"/>
                <a:ea typeface="+mn-ea"/>
                <a:cs typeface="+mn-cs"/>
              </a:rPr>
              <a:t>DriverPass</a:t>
            </a:r>
            <a:r>
              <a:rPr lang="en-US" dirty="0"/>
              <a:t>, our modern solution designed to streamline how your business manages driving student registrations, lesson schedules, and payments. My goal today is to showcase how this system is engineered to solve your operational challenges, create a painless experience for your students and instructors, and provide your management team with clear, actionable insights into business performance."</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"To build a strong solution, we categorized your business needs into two main buckets. First, we have what the system actually </a:t>
            </a:r>
            <a:r>
              <a:rPr lang="en-US" sz="1200" b="0" i="1" u="none" strike="noStrike" kern="1200" dirty="0">
                <a:solidFill>
                  <a:schemeClr val="tx1"/>
                </a:solidFill>
                <a:effectLst/>
                <a:latin typeface="+mn-lt"/>
                <a:ea typeface="+mn-ea"/>
                <a:cs typeface="+mn-cs"/>
              </a:rPr>
              <a:t>does</a:t>
            </a:r>
            <a:r>
              <a:rPr lang="en-US" sz="1200" b="0" u="none" strike="noStrike" kern="1200" dirty="0">
                <a:solidFill>
                  <a:schemeClr val="tx1"/>
                </a:solidFill>
                <a:effectLst/>
                <a:latin typeface="+mn-lt"/>
                <a:ea typeface="+mn-ea"/>
                <a:cs typeface="+mn-cs"/>
              </a:rPr>
              <a:t> for your users—the functional features. Students can quickly set up their own accounts, browse open times, and book lessons directly without having to call your office. Payments are automatically and safely processed the moment a booking occurs. For management, the system compiles automated reports that show your growth, busy times, and </a:t>
            </a:r>
            <a:r>
              <a:rPr lang="en-US" sz="1200" b="0" u="none" strike="noStrike" kern="1200" dirty="0" err="1">
                <a:solidFill>
                  <a:schemeClr val="tx1"/>
                </a:solidFill>
                <a:effectLst/>
                <a:latin typeface="+mn-lt"/>
                <a:ea typeface="+mn-ea"/>
                <a:cs typeface="+mn-cs"/>
              </a:rPr>
              <a:t>revenues.Second</a:t>
            </a:r>
            <a:r>
              <a:rPr lang="en-US" sz="1200" b="0" u="none" strike="noStrike" kern="1200" dirty="0">
                <a:solidFill>
                  <a:schemeClr val="tx1"/>
                </a:solidFill>
                <a:effectLst/>
                <a:latin typeface="+mn-lt"/>
                <a:ea typeface="+mn-ea"/>
                <a:cs typeface="+mn-cs"/>
              </a:rPr>
              <a:t>, we addressed </a:t>
            </a:r>
            <a:r>
              <a:rPr lang="en-US" sz="1200" b="0" i="1" u="none" strike="noStrike" kern="1200" dirty="0">
                <a:solidFill>
                  <a:schemeClr val="tx1"/>
                </a:solidFill>
                <a:effectLst/>
                <a:latin typeface="+mn-lt"/>
                <a:ea typeface="+mn-ea"/>
                <a:cs typeface="+mn-cs"/>
              </a:rPr>
              <a:t>how well</a:t>
            </a:r>
            <a:r>
              <a:rPr lang="en-US" sz="1200" b="0" u="none" strike="noStrike" kern="1200" dirty="0">
                <a:solidFill>
                  <a:schemeClr val="tx1"/>
                </a:solidFill>
                <a:effectLst/>
                <a:latin typeface="+mn-lt"/>
                <a:ea typeface="+mn-ea"/>
                <a:cs typeface="+mn-cs"/>
              </a:rPr>
              <a:t> the system performs behind the scenes. We are deploying this on premium cloud servers featuring automated balance controls. This ensures that even if hundreds of students log on simultaneously during peak morning hours, your website will stay fast, responsive, and completely crash-proof."</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This diagram provides a high-level view of how different people interact with </a:t>
            </a:r>
            <a:r>
              <a:rPr lang="en-US" sz="1200" b="0" u="none" strike="noStrike" kern="1200" dirty="0" err="1">
                <a:solidFill>
                  <a:schemeClr val="tx1"/>
                </a:solidFill>
                <a:effectLst/>
                <a:latin typeface="+mn-lt"/>
                <a:ea typeface="+mn-ea"/>
                <a:cs typeface="+mn-cs"/>
              </a:rPr>
              <a:t>DriverPass</a:t>
            </a:r>
            <a:r>
              <a:rPr lang="en-US" sz="1200" b="0" u="none" strike="noStrike" kern="1200" dirty="0">
                <a:solidFill>
                  <a:schemeClr val="tx1"/>
                </a:solidFill>
                <a:effectLst/>
                <a:latin typeface="+mn-lt"/>
                <a:ea typeface="+mn-ea"/>
                <a:cs typeface="+mn-cs"/>
              </a:rPr>
              <a:t>. We break the users down into three groups: your Students, your Instructors, and your </a:t>
            </a:r>
          </a:p>
          <a:p>
            <a:r>
              <a:rPr lang="en-US" sz="1200" b="0" u="none" strike="noStrike" kern="1200" dirty="0">
                <a:solidFill>
                  <a:schemeClr val="tx1"/>
                </a:solidFill>
                <a:effectLst/>
                <a:latin typeface="+mn-lt"/>
                <a:ea typeface="+mn-ea"/>
                <a:cs typeface="+mn-cs"/>
              </a:rPr>
              <a:t>Admins. As you can see on the blue path, students handle their registration, pick open spots from a calendar, and submit payments seamlessly. On the green path, your instructors have a dedicated way to publish the exact dates and times they are open to teach. Finally, the red path ensures your administrators can run the system and pull analytics reports whenever needed. This structure ensures clean boundaries; students only see what they need to book, instructors see their schedules, and you maintain complete control over the business data."</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"Let's take a look at what happens behind the scenes during a typical customer interaction. When a student browses your schedule, our system doesn't just blindly accept a booking. It instantly runs a verification check to ensure that the instructor is truly free and that no double-bookings can occur. Once verified, the booking is </a:t>
            </a:r>
            <a:r>
              <a:rPr lang="en-US" sz="1200" b="0" u="none" strike="noStrike" kern="1200" dirty="0" err="1">
                <a:solidFill>
                  <a:schemeClr val="tx1"/>
                </a:solidFill>
                <a:effectLst/>
                <a:latin typeface="+mn-lt"/>
                <a:ea typeface="+mn-ea"/>
                <a:cs typeface="+mn-cs"/>
              </a:rPr>
              <a:t>secured.Immediately</a:t>
            </a:r>
            <a:r>
              <a:rPr lang="en-US" sz="1200" b="0" u="none" strike="noStrike" kern="1200" dirty="0">
                <a:solidFill>
                  <a:schemeClr val="tx1"/>
                </a:solidFill>
                <a:effectLst/>
                <a:latin typeface="+mn-lt"/>
                <a:ea typeface="+mn-ea"/>
                <a:cs typeface="+mn-cs"/>
              </a:rPr>
              <a:t> after, our automated checkout sequence activates. The system securely collects the card information, sends it over a encrypted digital gateway to receive bank approval, updates your database, and instantly generates a digital receipt for the student. By making this a step-by-step automatic process, your administrative staff no longer has to manually verify schedules, collect card numbers over the phone, or write hand-written receipts."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"Security is vital when running a modern online platform. We have built-in triple-layer protection to keep your company safe. First, for credit cards, we use external secure payment gateways. This means card numbers are never sitting raw on your system, which eliminates major hacking risks and guarantees bank-level protection for your </a:t>
            </a:r>
            <a:r>
              <a:rPr lang="en-US" sz="1200" b="0" u="none" strike="noStrike" kern="1200" dirty="0" err="1">
                <a:solidFill>
                  <a:schemeClr val="tx1"/>
                </a:solidFill>
                <a:effectLst/>
                <a:latin typeface="+mn-lt"/>
                <a:ea typeface="+mn-ea"/>
                <a:cs typeface="+mn-cs"/>
              </a:rPr>
              <a:t>students.Second</a:t>
            </a:r>
            <a:r>
              <a:rPr lang="en-US" sz="1200" b="0" u="none" strike="noStrike" kern="1200" dirty="0">
                <a:solidFill>
                  <a:schemeClr val="tx1"/>
                </a:solidFill>
                <a:effectLst/>
                <a:latin typeface="+mn-lt"/>
                <a:ea typeface="+mn-ea"/>
                <a:cs typeface="+mn-cs"/>
              </a:rPr>
              <a:t>, we use strict profile boundaries. A student can never view another student's information or accidentally peek at internal administrative financial reports. Finally, we utilize modern server containers to package our code. If an external attacker attempts to disrupt one part of the platform, the container walls block them, keeping your central data and operations perfectly isolated and secure."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u="none" strike="noStrike" kern="1200" dirty="0">
                <a:solidFill>
                  <a:schemeClr val="tx1"/>
                </a:solidFill>
                <a:effectLst/>
                <a:latin typeface="+mn-lt"/>
                <a:ea typeface="+mn-ea"/>
                <a:cs typeface="+mn-cs"/>
              </a:rPr>
              <a:t>"To ensure transparent deployment, let's discuss the structural boundaries of our design. First, because this platform depends on split-second calendar updates and live financial approvals, it requires an active internet connection to work. If an instructor is out on the road in a deep dead-zone with no data signal, they won't see live, real-time schedule modifications until their mobile connection </a:t>
            </a:r>
            <a:r>
              <a:rPr lang="en-US" sz="1200" b="0" u="none" strike="noStrike" kern="1200" dirty="0" err="1">
                <a:solidFill>
                  <a:schemeClr val="tx1"/>
                </a:solidFill>
                <a:effectLst/>
                <a:latin typeface="+mn-lt"/>
                <a:ea typeface="+mn-ea"/>
                <a:cs typeface="+mn-cs"/>
              </a:rPr>
              <a:t>restores.Second</a:t>
            </a:r>
            <a:r>
              <a:rPr lang="en-US" sz="1200" b="0" u="none" strike="noStrike" kern="1200" dirty="0">
                <a:solidFill>
                  <a:schemeClr val="tx1"/>
                </a:solidFill>
                <a:effectLst/>
                <a:latin typeface="+mn-lt"/>
                <a:ea typeface="+mn-ea"/>
                <a:cs typeface="+mn-cs"/>
              </a:rPr>
              <a:t>, our underlying database is optimized for organized text, numbers, and dates—such as student accounts, IDs, certifications, and payment transaction logs. It is not an unorganized file dump for storing large, hours-long dashcam footage files or raw video recordings. Knowing these parameters allows us to focus the system's power entirely on what it does best: delivering a reliable, lightning-fast scheduling and billing experience for </a:t>
            </a:r>
            <a:r>
              <a:rPr lang="en-US" sz="1200" b="0" u="none" strike="noStrike" kern="1200" dirty="0" err="1">
                <a:solidFill>
                  <a:schemeClr val="tx1"/>
                </a:solidFill>
                <a:effectLst/>
                <a:latin typeface="+mn-lt"/>
                <a:ea typeface="+mn-ea"/>
                <a:cs typeface="+mn-cs"/>
              </a:rPr>
              <a:t>DriverPass</a:t>
            </a:r>
            <a:r>
              <a:rPr lang="en-US" sz="1200" b="0" u="none" strike="noStrike"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10/17/2026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2113614" y="4102092"/>
            <a:ext cx="7273478" cy="2043663"/>
          </a:xfrm>
        </p:spPr>
        <p:txBody>
          <a:bodyPr>
            <a:normAutofit/>
          </a:bodyPr>
          <a:lstStyle/>
          <a:p>
            <a:r>
              <a:rPr lang="en-US" dirty="0">
                <a:solidFill>
                  <a:srgbClr val="FFFFFF"/>
                </a:solidFill>
              </a:rPr>
              <a:t>Stan U. Purcell</a:t>
            </a:r>
          </a:p>
          <a:p>
            <a:endParaRPr lang="en-US" dirty="0">
              <a:solidFill>
                <a:srgbClr val="FFFFFF"/>
              </a:solidFill>
            </a:endParaRPr>
          </a:p>
          <a:p>
            <a:r>
              <a:rPr lang="en-US" sz="3200" dirty="0">
                <a:solidFill>
                  <a:srgbClr val="FFFFFF"/>
                </a:solidFill>
              </a:rPr>
              <a:t>Modernizing the Driving Lesson Experience</a:t>
            </a:r>
          </a:p>
          <a:p>
            <a:endParaRPr lang="en-US" dirty="0">
              <a:solidFill>
                <a:srgbClr val="FFFFFF"/>
              </a:solidFill>
            </a:endParaRPr>
          </a:p>
          <a:p>
            <a:endParaRPr sz="4000"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5314548" y="224852"/>
            <a:ext cx="6082110" cy="6280879"/>
          </a:xfrm>
        </p:spPr>
        <p:txBody>
          <a:bodyPr anchor="ctr">
            <a:normAutofit/>
          </a:bodyPr>
          <a:lstStyle/>
          <a:p>
            <a:pPr lvl="0"/>
            <a:r>
              <a:rPr lang="en-US" b="1" dirty="0"/>
              <a:t>Core </a:t>
            </a:r>
            <a:r>
              <a:rPr lang="en-US" b="1" dirty="0" err="1"/>
              <a:t>Core</a:t>
            </a:r>
            <a:r>
              <a:rPr lang="en-US" b="1" dirty="0"/>
              <a:t> System Services (Functional):</a:t>
            </a:r>
            <a:endParaRPr lang="en-US" dirty="0"/>
          </a:p>
          <a:p>
            <a:pPr lvl="1"/>
            <a:r>
              <a:rPr lang="en-US" dirty="0"/>
              <a:t>Self-service student registration and profile creation.</a:t>
            </a:r>
          </a:p>
          <a:p>
            <a:pPr lvl="1"/>
            <a:r>
              <a:rPr lang="en-US" dirty="0"/>
              <a:t>Real-time open calendar booking and scheduling.</a:t>
            </a:r>
          </a:p>
          <a:p>
            <a:pPr lvl="1"/>
            <a:r>
              <a:rPr lang="en-US" dirty="0"/>
              <a:t>Secure automated credit card payment handling.</a:t>
            </a:r>
          </a:p>
          <a:p>
            <a:pPr lvl="1"/>
            <a:r>
              <a:rPr lang="en-US" dirty="0"/>
              <a:t>Business growth and revenue performance reports.</a:t>
            </a:r>
          </a:p>
          <a:p>
            <a:pPr lvl="0"/>
            <a:r>
              <a:rPr lang="en-US" b="1" dirty="0"/>
              <a:t>Platform Reliability Standards (Nonfunctional):</a:t>
            </a:r>
            <a:endParaRPr lang="en-US" dirty="0"/>
          </a:p>
          <a:p>
            <a:pPr lvl="1"/>
            <a:r>
              <a:rPr lang="en-US" dirty="0"/>
              <a:t>Multi-core cloud server cluster with automated traffic management.</a:t>
            </a:r>
          </a:p>
          <a:p>
            <a:pPr lvl="1"/>
            <a:r>
              <a:rPr lang="en-US" dirty="0"/>
              <a:t>Secure, high-speed corporate data storage system.</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a:t>
            </a:r>
            <a:endParaRPr sz="2400" dirty="0">
              <a:solidFill>
                <a:srgbClr val="000000"/>
              </a:solidFill>
            </a:endParaRPr>
          </a:p>
        </p:txBody>
      </p:sp>
      <p:pic>
        <p:nvPicPr>
          <p:cNvPr id="4" name="Picture 3">
            <a:extLst>
              <a:ext uri="{FF2B5EF4-FFF2-40B4-BE49-F238E27FC236}">
                <a16:creationId xmlns:a16="http://schemas.microsoft.com/office/drawing/2014/main" id="{1D079468-D6C8-037F-92E0-4F4DE0CAB842}"/>
              </a:ext>
            </a:extLst>
          </p:cNvPr>
          <p:cNvPicPr>
            <a:picLocks noChangeAspect="1"/>
          </p:cNvPicPr>
          <p:nvPr/>
        </p:nvPicPr>
        <p:blipFill>
          <a:blip r:embed="rId5"/>
          <a:stretch>
            <a:fillRect/>
          </a:stretch>
        </p:blipFill>
        <p:spPr>
          <a:xfrm>
            <a:off x="4280461" y="321535"/>
            <a:ext cx="7567928" cy="5710965"/>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pic>
        <p:nvPicPr>
          <p:cNvPr id="4" name="Picture 3">
            <a:extLst>
              <a:ext uri="{FF2B5EF4-FFF2-40B4-BE49-F238E27FC236}">
                <a16:creationId xmlns:a16="http://schemas.microsoft.com/office/drawing/2014/main" id="{3769022D-567E-B04C-A166-EA1346A9209F}"/>
              </a:ext>
            </a:extLst>
          </p:cNvPr>
          <p:cNvPicPr>
            <a:picLocks noChangeAspect="1"/>
          </p:cNvPicPr>
          <p:nvPr/>
        </p:nvPicPr>
        <p:blipFill>
          <a:blip r:embed="rId5"/>
          <a:stretch>
            <a:fillRect/>
          </a:stretch>
        </p:blipFill>
        <p:spPr>
          <a:xfrm>
            <a:off x="5210628" y="1379863"/>
            <a:ext cx="6735865" cy="435328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5364860" y="203200"/>
            <a:ext cx="6319140" cy="6654800"/>
          </a:xfrm>
        </p:spPr>
        <p:txBody>
          <a:bodyPr anchor="ctr">
            <a:normAutofit/>
          </a:bodyPr>
          <a:lstStyle/>
          <a:p>
            <a:pPr lvl="0"/>
            <a:r>
              <a:rPr lang="en-US" b="1" dirty="0"/>
              <a:t>Bank-Level Transaction Security:</a:t>
            </a:r>
            <a:r>
              <a:rPr lang="en-US" dirty="0"/>
              <a:t> All student credit card collections go through dedicated, certified payment gateways.</a:t>
            </a:r>
          </a:p>
          <a:p>
            <a:pPr lvl="0"/>
            <a:r>
              <a:rPr lang="en-US" b="1" dirty="0"/>
              <a:t>Role-Based Profile Boundaries:</a:t>
            </a:r>
            <a:r>
              <a:rPr lang="en-US" dirty="0"/>
              <a:t> Users can only view and modify data relevant to their specific role (Student vs. Instructor vs. Administrator).</a:t>
            </a:r>
          </a:p>
          <a:p>
            <a:pPr lvl="0"/>
            <a:r>
              <a:rPr lang="en-US" b="1" dirty="0"/>
              <a:t>Isolating Core System Files:</a:t>
            </a:r>
            <a:r>
              <a:rPr lang="en-US" dirty="0"/>
              <a:t> System code and configurations are isolated inside secure container units to block external vulnerabilities.</a:t>
            </a:r>
          </a:p>
          <a:p>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4818743" y="174171"/>
            <a:ext cx="6577915" cy="6683829"/>
          </a:xfrm>
        </p:spPr>
        <p:txBody>
          <a:bodyPr anchor="ctr">
            <a:normAutofit/>
          </a:bodyPr>
          <a:lstStyle/>
          <a:p>
            <a:pPr lvl="0"/>
            <a:r>
              <a:rPr lang="en-US" b="1" dirty="0"/>
              <a:t>No Offline Capability:</a:t>
            </a:r>
            <a:r>
              <a:rPr lang="en-US" dirty="0"/>
              <a:t> Continuous internet access is required to synchronize live availability and execute payments.</a:t>
            </a:r>
          </a:p>
          <a:p>
            <a:pPr lvl="0"/>
            <a:r>
              <a:rPr lang="en-US" b="1" dirty="0"/>
              <a:t>Structured Data Environment:</a:t>
            </a:r>
            <a:r>
              <a:rPr lang="en-US" dirty="0"/>
              <a:t> Designed specifically around rigid relational metrics (such as unique IDs and text fields) rather than unorganized file processing.</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1358</TotalTime>
  <Words>978</Words>
  <Application>Microsoft Office PowerPoint</Application>
  <PresentationFormat>Widescreen</PresentationFormat>
  <Paragraphs>37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Purcell, Stan</cp:lastModifiedBy>
  <cp:revision>21</cp:revision>
  <dcterms:created xsi:type="dcterms:W3CDTF">2019-10-14T02:36:52Z</dcterms:created>
  <dcterms:modified xsi:type="dcterms:W3CDTF">2026-10-18T07:27:37Z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